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733"/>
                </a:solidFill>
                <a:latin typeface="Arial"/>
              </a:defRPr>
            </a:pPr>
            <a:r>
              <a:rPr sz="1100" b="0" i="0" u="none" strike="noStrike">
                <a:solidFill>
                  <a:srgbClr val="1B2733"/>
                </a:solidFill>
                <a:latin typeface="Arial"/>
              </a:rPr>
              <a:t>Monthly revenue, 2025 (M)</a:t>
            </a:r>
          </a:p>
        </c:rich>
      </c:tx>
      <c:layout/>
      <c:overlay val="0"/>
    </c:title>
    <c:autoTitleDeleted val="0"/>
    <c:plotArea>
      <c:layout/>
      <c:lineChart>
        <c:varyColors val="0"/>
        <c:ser>
          <c:idx val="0"/>
          <c:order val="0"/>
          <c:tx>
            <c:strRef>
              <c:f>Sheet1!$B$1</c:f>
              <c:strCache>
                <c:ptCount val="1"/>
                <c:pt idx="0">
                  <c:v>Revenue (M)</c:v>
                </c:pt>
              </c:strCache>
            </c:strRef>
          </c:tx>
          <c:spPr>
            <a:solidFill>
              <a:srgbClr val="0F4C5C"/>
            </a:solidFill>
            <a:ln w="31750" cap="flat">
              <a:solidFill>
                <a:srgbClr val="0F4C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4C5C"/>
              </a:solidFill>
              <a:ln w="9525" cap="flat">
                <a:solidFill>
                  <a:srgbClr val="0F4C5C"/>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10.1</c:v>
                </c:pt>
                <c:pt idx="1">
                  <c:v>11.51</c:v>
                </c:pt>
                <c:pt idx="2">
                  <c:v>13.06</c:v>
                </c:pt>
                <c:pt idx="3">
                  <c:v>12.22</c:v>
                </c:pt>
                <c:pt idx="4">
                  <c:v>10.98</c:v>
                </c:pt>
                <c:pt idx="5">
                  <c:v>12.91</c:v>
                </c:pt>
                <c:pt idx="6">
                  <c:v>11.75</c:v>
                </c:pt>
                <c:pt idx="7">
                  <c:v>9.45</c:v>
                </c:pt>
                <c:pt idx="8">
                  <c:v>9.18</c:v>
                </c:pt>
                <c:pt idx="9">
                  <c:v>12.5</c:v>
                </c:pt>
                <c:pt idx="10">
                  <c:v>12.63</c:v>
                </c:pt>
                <c:pt idx="11">
                  <c:v>12.3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2"/>
        <c:crosses val="autoZero"/>
        <c:auto val="1"/>
        <c:lblAlgn val="ctr"/>
        <c:noMultiLvlLbl val="1"/>
      </c:catAx>
      <c:valAx>
        <c:axId val="2094734552"/>
        <c:scaling>
          <c:orientation val="minMax"/>
          <c:max val="14"/>
          <c:min val="6"/>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733"/>
                </a:solidFill>
                <a:latin typeface="Arial"/>
              </a:defRPr>
            </a:pPr>
            <a:r>
              <a:rPr sz="1100" b="0" i="0" u="none" strike="noStrike">
                <a:solidFill>
                  <a:srgbClr val="1B2733"/>
                </a:solidFill>
                <a:latin typeface="Arial"/>
              </a:rPr>
              <a:t>Order segments: share of orders vs revenue</a:t>
            </a:r>
          </a:p>
        </c:rich>
      </c:tx>
      <c:layout/>
      <c:overlay val="0"/>
    </c:title>
    <c:autoTitleDeleted val="0"/>
    <c:plotArea>
      <c:layout/>
      <c:barChart>
        <c:barDir val="col"/>
        <c:grouping val="clustered"/>
        <c:varyColors val="0"/>
        <c:ser>
          <c:idx val="0"/>
          <c:order val="0"/>
          <c:tx>
            <c:strRef>
              <c:f>Sheet1!$B$1</c:f>
              <c:strCache>
                <c:ptCount val="1"/>
                <c:pt idx="0">
                  <c:v>Share of orders (%)</c:v>
                </c:pt>
              </c:strCache>
            </c:strRef>
          </c:tx>
          <c:spPr>
            <a:solidFill>
              <a:srgbClr val="9DB8D3"/>
            </a:solidFill>
            <a:effectLst/>
          </c:spPr>
          <c:invertIfNegative val="0"/>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cat>
            <c:multiLvlStrRef>
              <c:f>Sheet1!$A$2:$A$5</c:f>
              <c:multiLvlStrCache>
                <c:ptCount val="4"/>
                <c:lvl>
                  <c:pt idx="0">
                    <c:v>Big spenders</c:v>
                  </c:pt>
                  <c:pt idx="1">
                    <c:v>Volume buyers</c:v>
                  </c:pt>
                  <c:pt idx="2">
                    <c:v>Premium pickers</c:v>
                  </c:pt>
                  <c:pt idx="3">
                    <c:v>Light buyers</c:v>
                  </c:pt>
                </c:lvl>
              </c:multiLvlStrCache>
            </c:multiLvlStrRef>
          </c:cat>
          <c:val>
            <c:numRef>
              <c:f>Sheet1!$B$2:$B$5</c:f>
              <c:numCache>
                <c:formatCode>General</c:formatCode>
                <c:ptCount val="4"/>
                <c:pt idx="0">
                  <c:v>24.7</c:v>
                </c:pt>
                <c:pt idx="1">
                  <c:v>23.4</c:v>
                </c:pt>
                <c:pt idx="2">
                  <c:v>26.8</c:v>
                </c:pt>
                <c:pt idx="3">
                  <c:v>25.1</c:v>
                </c:pt>
              </c:numCache>
            </c:numRef>
          </c:val>
        </c:ser>
        <c:ser>
          <c:idx val="1"/>
          <c:order val="1"/>
          <c:tx>
            <c:strRef>
              <c:f>Sheet1!$C$1</c:f>
              <c:strCache>
                <c:ptCount val="1"/>
                <c:pt idx="0">
                  <c:v>Share of revenue (%)</c:v>
                </c:pt>
              </c:strCache>
            </c:strRef>
          </c:tx>
          <c:spPr>
            <a:solidFill>
              <a:srgbClr val="0F4C5C"/>
            </a:solidFill>
            <a:effectLst/>
          </c:spPr>
          <c:invertIfNegative val="0"/>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cat>
            <c:multiLvlStrRef>
              <c:f>Sheet1!$A$2:$A$5</c:f>
              <c:multiLvlStrCache>
                <c:ptCount val="4"/>
                <c:lvl>
                  <c:pt idx="0">
                    <c:v>Big spenders</c:v>
                  </c:pt>
                  <c:pt idx="1">
                    <c:v>Volume buyers</c:v>
                  </c:pt>
                  <c:pt idx="2">
                    <c:v>Premium pickers</c:v>
                  </c:pt>
                  <c:pt idx="3">
                    <c:v>Light buyers</c:v>
                  </c:pt>
                </c:lvl>
              </c:multiLvlStrCache>
            </c:multiLvlStrRef>
          </c:cat>
          <c:val>
            <c:numRef>
              <c:f>Sheet1!$C$2:$C$5</c:f>
              <c:numCache>
                <c:formatCode>General</c:formatCode>
                <c:ptCount val="4"/>
                <c:pt idx="0">
                  <c:v>53.2</c:v>
                </c:pt>
                <c:pt idx="1">
                  <c:v>18</c:v>
                </c:pt>
                <c:pt idx="2">
                  <c:v>21.8</c:v>
                </c:pt>
                <c:pt idx="3">
                  <c:v>7</c:v>
                </c:pt>
              </c:numCache>
            </c:numRef>
          </c:val>
        </c:ser>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2"/>
        <c:crosses val="autoZero"/>
        <c:auto val="1"/>
        <c:lblAlgn val="ctr"/>
        <c:noMultiLvlLbl val="1"/>
      </c:catAx>
      <c:valAx>
        <c:axId val="2094734552"/>
        <c:scaling>
          <c:orientation val="minMax"/>
          <c:max val="6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6F7D"/>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733"/>
                </a:solidFill>
                <a:latin typeface="Arial"/>
              </a:defRPr>
            </a:pPr>
            <a:r>
              <a:rPr sz="1100" b="0" i="0" u="none" strike="noStrike">
                <a:solidFill>
                  <a:srgbClr val="1B2733"/>
                </a:solidFill>
                <a:latin typeface="Arial"/>
              </a:rPr>
              <a:t>Share of orders by product (%)</a:t>
            </a:r>
          </a:p>
        </c:rich>
      </c:tx>
      <c:layout/>
      <c:overlay val="0"/>
    </c:title>
    <c:autoTitleDeleted val="0"/>
    <c:plotArea>
      <c:layout/>
      <c:barChart>
        <c:barDir val="col"/>
        <c:grouping val="clustered"/>
        <c:varyColors val="0"/>
        <c:ser>
          <c:idx val="0"/>
          <c:order val="0"/>
          <c:tx>
            <c:strRef>
              <c:f>Sheet1!$B$1</c:f>
              <c:strCache>
                <c:ptCount val="1"/>
                <c:pt idx="0">
                  <c:v>H1 (Jan-Jun)</c:v>
                </c:pt>
              </c:strCache>
            </c:strRef>
          </c:tx>
          <c:spPr>
            <a:solidFill>
              <a:srgbClr val="9DB8D3"/>
            </a:solidFill>
            <a:effectLst/>
          </c:spPr>
          <c:invertIfNegative val="0"/>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cat>
            <c:multiLvlStrRef>
              <c:f>Sheet1!$A$2:$A$7</c:f>
              <c:multiLvlStrCache>
                <c:ptCount val="6"/>
                <c:lvl>
                  <c:pt idx="0">
                    <c:v>Mobile</c:v>
                  </c:pt>
                  <c:pt idx="1">
                    <c:v>Book</c:v>
                  </c:pt>
                  <c:pt idx="2">
                    <c:v>Laptop</c:v>
                  </c:pt>
                  <c:pt idx="3">
                    <c:v>Chair</c:v>
                  </c:pt>
                  <c:pt idx="4">
                    <c:v>Rice</c:v>
                  </c:pt>
                  <c:pt idx="5">
                    <c:v>Shoes</c:v>
                  </c:pt>
                </c:lvl>
              </c:multiLvlStrCache>
            </c:multiLvlStrRef>
          </c:cat>
          <c:val>
            <c:numRef>
              <c:f>Sheet1!$B$2:$B$7</c:f>
              <c:numCache>
                <c:formatCode>General</c:formatCode>
                <c:ptCount val="6"/>
                <c:pt idx="0">
                  <c:v>21.2</c:v>
                </c:pt>
                <c:pt idx="1">
                  <c:v>17.2</c:v>
                </c:pt>
                <c:pt idx="2">
                  <c:v>16.4</c:v>
                </c:pt>
                <c:pt idx="3">
                  <c:v>14.4</c:v>
                </c:pt>
                <c:pt idx="4">
                  <c:v>15.6</c:v>
                </c:pt>
                <c:pt idx="5">
                  <c:v>15</c:v>
                </c:pt>
              </c:numCache>
            </c:numRef>
          </c:val>
        </c:ser>
        <c:ser>
          <c:idx val="1"/>
          <c:order val="1"/>
          <c:tx>
            <c:strRef>
              <c:f>Sheet1!$C$1</c:f>
              <c:strCache>
                <c:ptCount val="1"/>
                <c:pt idx="0">
                  <c:v>H2 (Jul-Jan 1)</c:v>
                </c:pt>
              </c:strCache>
            </c:strRef>
          </c:tx>
          <c:spPr>
            <a:solidFill>
              <a:srgbClr val="0F4C5C"/>
            </a:solidFill>
            <a:effectLst/>
          </c:spPr>
          <c:invertIfNegative val="0"/>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cat>
            <c:multiLvlStrRef>
              <c:f>Sheet1!$A$2:$A$7</c:f>
              <c:multiLvlStrCache>
                <c:ptCount val="6"/>
                <c:lvl>
                  <c:pt idx="0">
                    <c:v>Mobile</c:v>
                  </c:pt>
                  <c:pt idx="1">
                    <c:v>Book</c:v>
                  </c:pt>
                  <c:pt idx="2">
                    <c:v>Laptop</c:v>
                  </c:pt>
                  <c:pt idx="3">
                    <c:v>Chair</c:v>
                  </c:pt>
                  <c:pt idx="4">
                    <c:v>Rice</c:v>
                  </c:pt>
                  <c:pt idx="5">
                    <c:v>Shoes</c:v>
                  </c:pt>
                </c:lvl>
              </c:multiLvlStrCache>
            </c:multiLvlStrRef>
          </c:cat>
          <c:val>
            <c:numRef>
              <c:f>Sheet1!$C$2:$C$7</c:f>
              <c:numCache>
                <c:formatCode>General</c:formatCode>
                <c:ptCount val="6"/>
                <c:pt idx="0">
                  <c:v>15.6</c:v>
                </c:pt>
                <c:pt idx="1">
                  <c:v>18.4</c:v>
                </c:pt>
                <c:pt idx="2">
                  <c:v>17.6</c:v>
                </c:pt>
                <c:pt idx="3">
                  <c:v>17.4</c:v>
                </c:pt>
                <c:pt idx="4">
                  <c:v>15</c:v>
                </c:pt>
                <c:pt idx="5">
                  <c:v>16.2</c:v>
                </c:pt>
              </c:numCache>
            </c:numRef>
          </c:val>
        </c:ser>
        <c:dLbls>
          <c:numFmt formatCode="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2"/>
        <c:crosses val="autoZero"/>
        <c:auto val="1"/>
        <c:lblAlgn val="ctr"/>
        <c:noMultiLvlLbl val="1"/>
      </c:catAx>
      <c:valAx>
        <c:axId val="2094734552"/>
        <c:scaling>
          <c:orientation val="minMax"/>
          <c:max val="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7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6F7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question. The data: 1,000 orders, 1 Jan 2025 to 1 Jan 2026, 8 cities, 6 products, 139.4 M revenue. Promise: three findings, one honest statistical check, and clear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stable. August and September were the weakest months, which we test later. Order value depends equally on price and quantity, and not on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are rules on quantity and unit price. Big spenders are 24.7% of orders but 53.2% of revenue; Light buyers are 25.1% of orders but 7%. Chi-square tests show the segments do not differ by gender, age group, city or category, and k-means found no natural clusters. So this is about baskets, not about types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looked most alarming in the charts. Mobile revenue fell 35% between halves. The two-proportion test gives p = 0.021, but I looked at six things and picked Mobile after seeing the data, so the Holm-adjusted p is 0.124. The 95% interval for the drop is 0.9 to 10.5 points. Treat it as suggestive and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tests, Holm correction. T2 is the closest. None of the others come close. Not significant does not prove there is no difference; our confidence intervals are wide, so small and moderate differences remain possible. The full tables are in the GitHub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actions. Protect the big baskets. Lift the small ones. Stop building plans around age or gender because the data gives no support. Revisit Mobile when we have two more quarters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it builds trust. Close by restating the call to action and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7863840" cy="1280160"/>
          </a:xfrm>
          <a:prstGeom prst="rect">
            <a:avLst/>
          </a:prstGeom>
          <a:noFill/>
          <a:ln/>
        </p:spPr>
        <p:txBody>
          <a:bodyPr wrap="square" rtlCol="0"/>
          <a:lstStyle>
            <a:lvl1pPr algn="l" indent="0" marL="0">
              <a:buNone/>
              <a:defRPr lang="en-US" sz="3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ph idx="101" type="body" hasCustomPrompt="1"/>
          </p:nvPr>
        </p:nvSpPr>
        <p:spPr>
          <a:xfrm>
            <a:off x="640080" y="2651760"/>
            <a:ext cx="7498080" cy="914400"/>
          </a:xfrm>
          <a:prstGeom prst="rect">
            <a:avLst/>
          </a:prstGeom>
          <a:noFill/>
          <a:ln/>
        </p:spPr>
        <p:txBody>
          <a:bodyPr wrap="square" rtlCol="0"/>
          <a:lstStyle>
            <a:lvl1pPr algn="l" indent="0" marL="0">
              <a:buNone/>
              <a:defRPr lang="en-US" sz="1600" dirty="0">
                <a:solidFill>
                  <a:srgbClr val="D6E6EA"/>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2F4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200" b="1" dirty="0">
                <a:solidFill>
                  <a:srgbClr val="1B2733"/>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F6F7D"/>
                </a:solidFill>
              </a:rPr>
              <a:t>ApexPlanet Data Analytics Internship  |  Mahesh R</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7863840" cy="1280160"/>
          </a:xfrm>
          <a:prstGeom prst="rect">
            <a:avLst/>
          </a:prstGeom>
          <a:noFill/>
          <a:ln/>
        </p:spPr>
        <p:txBody>
          <a:bodyPr wrap="square" lIns="0" tIns="0" rIns="0" bIns="0" rtlCol="0" anchor="t"/>
          <a:lstStyle/>
          <a:p>
            <a:pPr algn="l" indent="0" marL="0">
              <a:buNone/>
            </a:pPr>
            <a:r>
              <a:rPr lang="en-US" sz="3800" b="1" dirty="0">
                <a:solidFill>
                  <a:srgbClr val="FFFFFF"/>
                </a:solidFill>
                <a:latin typeface="Calibri" pitchFamily="34" charset="0"/>
                <a:ea typeface="Calibri" pitchFamily="34" charset="-122"/>
                <a:cs typeface="Calibri" pitchFamily="34" charset="-120"/>
              </a:rPr>
              <a:t>What really drives our revenue</a:t>
            </a:r>
            <a:endParaRPr lang="en-US" sz="3800" dirty="0"/>
          </a:p>
        </p:txBody>
      </p:sp>
      <p:sp>
        <p:nvSpPr>
          <p:cNvPr id="3" name="Text 0"/>
          <p:cNvSpPr/>
          <p:nvPr>
            <p:ph idx="101" type="body" hasCustomPrompt="1"/>
          </p:nvPr>
        </p:nvSpPr>
        <p:spPr>
          <a:xfrm>
            <a:off x="640080" y="2651760"/>
            <a:ext cx="7498080" cy="914400"/>
          </a:xfrm>
          <a:prstGeom prst="rect">
            <a:avLst/>
          </a:prstGeom>
          <a:noFill/>
          <a:ln/>
        </p:spPr>
        <p:txBody>
          <a:bodyPr wrap="square" lIns="0" tIns="0" rIns="0" bIns="0" rtlCol="0" anchor="t"/>
          <a:lstStyle/>
          <a:p>
            <a:pPr algn="l" indent="0" marL="0">
              <a:buNone/>
            </a:pPr>
            <a:r>
              <a:rPr lang="en-US" sz="1600" dirty="0">
                <a:solidFill>
                  <a:srgbClr val="D6E6EA"/>
                </a:solidFill>
                <a:latin typeface="Calibri" pitchFamily="34" charset="0"/>
                <a:ea typeface="Calibri" pitchFamily="34" charset="-122"/>
                <a:cs typeface="Calibri" pitchFamily="34" charset="-120"/>
              </a:rPr>
              <a:t>A data story and statistical check of 1,000 retail orders</a:t>
            </a:r>
            <a:endParaRPr lang="en-US" sz="1600" dirty="0"/>
          </a:p>
          <a:p>
            <a:pPr algn="l" indent="0" marL="0">
              <a:buNone/>
            </a:pPr>
            <a:r>
              <a:rPr lang="en-US" sz="1600" dirty="0">
                <a:solidFill>
                  <a:srgbClr val="D6E6EA"/>
                </a:solidFill>
                <a:latin typeface="Calibri" pitchFamily="34" charset="0"/>
                <a:ea typeface="Calibri" pitchFamily="34" charset="-122"/>
                <a:cs typeface="Calibri" pitchFamily="34" charset="-120"/>
              </a:rPr>
              <a:t>Mahesh R  |  ApexPlanet Data Analytics Internship</a:t>
            </a:r>
            <a:endParaRPr lang="en-US" sz="1600" dirty="0"/>
          </a:p>
        </p:txBody>
      </p:sp>
      <p:sp>
        <p:nvSpPr>
          <p:cNvPr id="4" name="Text 2"/>
          <p:cNvSpPr txBox="1"/>
          <p:nvPr/>
        </p:nvSpPr>
        <p:spPr>
          <a:xfrm>
            <a:off x="640080" y="4023360"/>
            <a:ext cx="7315200" cy="36576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question: where should sales and marketing focus?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Revenue is steady at about 12 M a month, with a softer Aug-Sep</a:t>
            </a:r>
            <a:endParaRPr lang="en-US" sz="2200" dirty="0"/>
          </a:p>
        </p:txBody>
      </p:sp>
      <p:sp>
        <p:nvSpPr>
          <p:cNvPr id="3" name="KPI total revenue"/>
          <p:cNvSpPr/>
          <p:nvPr/>
        </p:nvSpPr>
        <p:spPr>
          <a:xfrm>
            <a:off x="457200" y="1188720"/>
            <a:ext cx="2103120" cy="960120"/>
          </a:xfrm>
          <a:prstGeom prst="rect">
            <a:avLst/>
          </a:prstGeom>
          <a:solidFill>
            <a:srgbClr val="FFFFFF"/>
          </a:solidFill>
          <a:ln w="9525">
            <a:solidFill>
              <a:srgbClr val="D9DFE5"/>
            </a:solidFill>
            <a:prstDash val="solid"/>
          </a:ln>
        </p:spPr>
      </p:sp>
      <p:sp>
        <p:nvSpPr>
          <p:cNvPr id="4" name="Text 2"/>
          <p:cNvSpPr txBox="1"/>
          <p:nvPr/>
        </p:nvSpPr>
        <p:spPr>
          <a:xfrm>
            <a:off x="640080" y="1261872"/>
            <a:ext cx="1828800" cy="502920"/>
          </a:xfrm>
          <a:prstGeom prst="rect">
            <a:avLst/>
          </a:prstGeom>
          <a:noFill/>
          <a:ln/>
        </p:spPr>
        <p:txBody>
          <a:bodyPr wrap="square" lIns="0" tIns="0" rIns="0" bIns="0" rtlCol="0" anchor="ctr"/>
          <a:lstStyle/>
          <a:p>
            <a:pPr indent="0" marL="0">
              <a:buNone/>
            </a:pPr>
            <a:r>
              <a:rPr lang="en-US" sz="2800" b="1" dirty="0">
                <a:solidFill>
                  <a:srgbClr val="0F4C5C"/>
                </a:solidFill>
                <a:latin typeface="Calibri" pitchFamily="34" charset="0"/>
                <a:ea typeface="Calibri" pitchFamily="34" charset="-122"/>
                <a:cs typeface="Calibri" pitchFamily="34" charset="-120"/>
              </a:rPr>
              <a:t>139.4 M</a:t>
            </a:r>
            <a:endParaRPr lang="en-US" sz="2800" dirty="0"/>
          </a:p>
        </p:txBody>
      </p:sp>
      <p:sp>
        <p:nvSpPr>
          <p:cNvPr id="5" name="Text 3"/>
          <p:cNvSpPr txBox="1"/>
          <p:nvPr/>
        </p:nvSpPr>
        <p:spPr>
          <a:xfrm>
            <a:off x="640080" y="1783080"/>
            <a:ext cx="1828800" cy="274320"/>
          </a:xfrm>
          <a:prstGeom prst="rect">
            <a:avLst/>
          </a:prstGeom>
          <a:noFill/>
          <a:ln/>
        </p:spPr>
        <p:txBody>
          <a:bodyPr wrap="square" lIns="0" tIns="0" rIns="0" bIns="0" rtlCol="0" anchor="ctr"/>
          <a:lstStyle/>
          <a:p>
            <a:pPr indent="0" marL="0">
              <a:buNone/>
            </a:pPr>
            <a:r>
              <a:rPr lang="en-US" sz="1200" dirty="0">
                <a:solidFill>
                  <a:srgbClr val="5F6F7D"/>
                </a:solidFill>
                <a:latin typeface="Calibri" pitchFamily="34" charset="0"/>
                <a:ea typeface="Calibri" pitchFamily="34" charset="-122"/>
                <a:cs typeface="Calibri" pitchFamily="34" charset="-120"/>
              </a:rPr>
              <a:t>total revenue</a:t>
            </a:r>
            <a:endParaRPr lang="en-US" sz="1200" dirty="0"/>
          </a:p>
        </p:txBody>
      </p:sp>
      <p:sp>
        <p:nvSpPr>
          <p:cNvPr id="6" name="KPI orders"/>
          <p:cNvSpPr/>
          <p:nvPr/>
        </p:nvSpPr>
        <p:spPr>
          <a:xfrm>
            <a:off x="457200" y="2286000"/>
            <a:ext cx="2103120" cy="960120"/>
          </a:xfrm>
          <a:prstGeom prst="rect">
            <a:avLst/>
          </a:prstGeom>
          <a:solidFill>
            <a:srgbClr val="FFFFFF"/>
          </a:solidFill>
          <a:ln w="9525">
            <a:solidFill>
              <a:srgbClr val="D9DFE5"/>
            </a:solidFill>
            <a:prstDash val="solid"/>
          </a:ln>
        </p:spPr>
      </p:sp>
      <p:sp>
        <p:nvSpPr>
          <p:cNvPr id="7" name="Text 5"/>
          <p:cNvSpPr txBox="1"/>
          <p:nvPr/>
        </p:nvSpPr>
        <p:spPr>
          <a:xfrm>
            <a:off x="640080" y="2359152"/>
            <a:ext cx="1828800" cy="502920"/>
          </a:xfrm>
          <a:prstGeom prst="rect">
            <a:avLst/>
          </a:prstGeom>
          <a:noFill/>
          <a:ln/>
        </p:spPr>
        <p:txBody>
          <a:bodyPr wrap="square" lIns="0" tIns="0" rIns="0" bIns="0" rtlCol="0" anchor="ctr"/>
          <a:lstStyle/>
          <a:p>
            <a:pPr indent="0" marL="0">
              <a:buNone/>
            </a:pPr>
            <a:r>
              <a:rPr lang="en-US" sz="2800" b="1" dirty="0">
                <a:solidFill>
                  <a:srgbClr val="0F4C5C"/>
                </a:solidFill>
                <a:latin typeface="Calibri" pitchFamily="34" charset="0"/>
                <a:ea typeface="Calibri" pitchFamily="34" charset="-122"/>
                <a:cs typeface="Calibri" pitchFamily="34" charset="-120"/>
              </a:rPr>
              <a:t>1,000</a:t>
            </a:r>
            <a:endParaRPr lang="en-US" sz="2800" dirty="0"/>
          </a:p>
        </p:txBody>
      </p:sp>
      <p:sp>
        <p:nvSpPr>
          <p:cNvPr id="8" name="Text 6"/>
          <p:cNvSpPr txBox="1"/>
          <p:nvPr/>
        </p:nvSpPr>
        <p:spPr>
          <a:xfrm>
            <a:off x="640080" y="2880360"/>
            <a:ext cx="1828800" cy="274320"/>
          </a:xfrm>
          <a:prstGeom prst="rect">
            <a:avLst/>
          </a:prstGeom>
          <a:noFill/>
          <a:ln/>
        </p:spPr>
        <p:txBody>
          <a:bodyPr wrap="square" lIns="0" tIns="0" rIns="0" bIns="0" rtlCol="0" anchor="ctr"/>
          <a:lstStyle/>
          <a:p>
            <a:pPr indent="0" marL="0">
              <a:buNone/>
            </a:pPr>
            <a:r>
              <a:rPr lang="en-US" sz="1200" dirty="0">
                <a:solidFill>
                  <a:srgbClr val="5F6F7D"/>
                </a:solidFill>
                <a:latin typeface="Calibri" pitchFamily="34" charset="0"/>
                <a:ea typeface="Calibri" pitchFamily="34" charset="-122"/>
                <a:cs typeface="Calibri" pitchFamily="34" charset="-120"/>
              </a:rPr>
              <a:t>orders</a:t>
            </a:r>
            <a:endParaRPr lang="en-US" sz="1200" dirty="0"/>
          </a:p>
        </p:txBody>
      </p:sp>
      <p:sp>
        <p:nvSpPr>
          <p:cNvPr id="9" name="KPI average order value"/>
          <p:cNvSpPr/>
          <p:nvPr/>
        </p:nvSpPr>
        <p:spPr>
          <a:xfrm>
            <a:off x="457200" y="3383280"/>
            <a:ext cx="2103120" cy="960120"/>
          </a:xfrm>
          <a:prstGeom prst="rect">
            <a:avLst/>
          </a:prstGeom>
          <a:solidFill>
            <a:srgbClr val="FFFFFF"/>
          </a:solidFill>
          <a:ln w="9525">
            <a:solidFill>
              <a:srgbClr val="D9DFE5"/>
            </a:solidFill>
            <a:prstDash val="solid"/>
          </a:ln>
        </p:spPr>
      </p:sp>
      <p:sp>
        <p:nvSpPr>
          <p:cNvPr id="10" name="Text 8"/>
          <p:cNvSpPr txBox="1"/>
          <p:nvPr/>
        </p:nvSpPr>
        <p:spPr>
          <a:xfrm>
            <a:off x="640080" y="3456432"/>
            <a:ext cx="1828800" cy="502920"/>
          </a:xfrm>
          <a:prstGeom prst="rect">
            <a:avLst/>
          </a:prstGeom>
          <a:noFill/>
          <a:ln/>
        </p:spPr>
        <p:txBody>
          <a:bodyPr wrap="square" lIns="0" tIns="0" rIns="0" bIns="0" rtlCol="0" anchor="ctr"/>
          <a:lstStyle/>
          <a:p>
            <a:pPr indent="0" marL="0">
              <a:buNone/>
            </a:pPr>
            <a:r>
              <a:rPr lang="en-US" sz="2800" b="1" dirty="0">
                <a:solidFill>
                  <a:srgbClr val="0F4C5C"/>
                </a:solidFill>
                <a:latin typeface="Calibri" pitchFamily="34" charset="0"/>
                <a:ea typeface="Calibri" pitchFamily="34" charset="-122"/>
                <a:cs typeface="Calibri" pitchFamily="34" charset="-120"/>
              </a:rPr>
              <a:t>139 K</a:t>
            </a:r>
            <a:endParaRPr lang="en-US" sz="2800" dirty="0"/>
          </a:p>
        </p:txBody>
      </p:sp>
      <p:sp>
        <p:nvSpPr>
          <p:cNvPr id="11" name="Text 9"/>
          <p:cNvSpPr txBox="1"/>
          <p:nvPr/>
        </p:nvSpPr>
        <p:spPr>
          <a:xfrm>
            <a:off x="640080" y="3977640"/>
            <a:ext cx="1828800" cy="274320"/>
          </a:xfrm>
          <a:prstGeom prst="rect">
            <a:avLst/>
          </a:prstGeom>
          <a:noFill/>
          <a:ln/>
        </p:spPr>
        <p:txBody>
          <a:bodyPr wrap="square" lIns="0" tIns="0" rIns="0" bIns="0" rtlCol="0" anchor="ctr"/>
          <a:lstStyle/>
          <a:p>
            <a:pPr indent="0" marL="0">
              <a:buNone/>
            </a:pPr>
            <a:r>
              <a:rPr lang="en-US" sz="1200" dirty="0">
                <a:solidFill>
                  <a:srgbClr val="5F6F7D"/>
                </a:solidFill>
                <a:latin typeface="Calibri" pitchFamily="34" charset="0"/>
                <a:ea typeface="Calibri" pitchFamily="34" charset="-122"/>
                <a:cs typeface="Calibri" pitchFamily="34" charset="-120"/>
              </a:rPr>
              <a:t>average order value</a:t>
            </a:r>
            <a:endParaRPr lang="en-US" sz="1200" dirty="0"/>
          </a:p>
        </p:txBody>
      </p:sp>
      <p:sp>
        <p:nvSpPr>
          <p:cNvPr id="12" name="Chart panel"/>
          <p:cNvSpPr/>
          <p:nvPr/>
        </p:nvSpPr>
        <p:spPr>
          <a:xfrm>
            <a:off x="2743200" y="1188720"/>
            <a:ext cx="5943600" cy="3154680"/>
          </a:xfrm>
          <a:prstGeom prst="rect">
            <a:avLst/>
          </a:prstGeom>
          <a:solidFill>
            <a:srgbClr val="FFFFFF"/>
          </a:solidFill>
          <a:ln w="9525">
            <a:solidFill>
              <a:srgbClr val="D9DFE5"/>
            </a:solidFill>
            <a:prstDash val="solid"/>
          </a:ln>
        </p:spPr>
      </p:sp>
      <p:graphicFrame>
        <p:nvGraphicFramePr>
          <p:cNvPr id="13" name="Chart 0" descr=""/>
          <p:cNvGraphicFramePr/>
          <p:nvPr/>
        </p:nvGraphicFramePr>
        <p:xfrm>
          <a:off x="2834640" y="1234440"/>
          <a:ext cx="5760720" cy="30632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57200" y="4407408"/>
            <a:ext cx="8229600" cy="274320"/>
          </a:xfrm>
          <a:prstGeom prst="rect">
            <a:avLst/>
          </a:prstGeom>
          <a:noFill/>
          <a:ln/>
        </p:spPr>
        <p:txBody>
          <a:bodyPr wrap="square" lIns="0" tIns="0" rIns="0" bIns="0" rtlCol="0" anchor="ctr"/>
          <a:lstStyle/>
          <a:p>
            <a:pPr indent="0" marL="0">
              <a:buNone/>
            </a:pPr>
            <a:r>
              <a:rPr lang="en-US" sz="1200" dirty="0">
                <a:solidFill>
                  <a:srgbClr val="5F6F7D"/>
                </a:solidFill>
                <a:latin typeface="Calibri" pitchFamily="34" charset="0"/>
                <a:ea typeface="Calibri" pitchFamily="34" charset="-122"/>
                <a:cs typeface="Calibri" pitchFamily="34" charset="-120"/>
              </a:rPr>
              <a:t>Order value rises with both unit price (r = 0.69) and quantity (r = 0.65); age has no relationship with spend.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One quarter of orders brings in over half of revenue</a:t>
            </a:r>
            <a:endParaRPr lang="en-US" sz="2200" dirty="0"/>
          </a:p>
        </p:txBody>
      </p:sp>
      <p:sp>
        <p:nvSpPr>
          <p:cNvPr id="3" name="Chart panel"/>
          <p:cNvSpPr/>
          <p:nvPr/>
        </p:nvSpPr>
        <p:spPr>
          <a:xfrm>
            <a:off x="457200" y="1188720"/>
            <a:ext cx="4846320" cy="3200400"/>
          </a:xfrm>
          <a:prstGeom prst="rect">
            <a:avLst/>
          </a:prstGeom>
          <a:solidFill>
            <a:srgbClr val="FFFFFF"/>
          </a:solidFill>
          <a:ln w="9525">
            <a:solidFill>
              <a:srgbClr val="D9DFE5"/>
            </a:solidFill>
            <a:prstDash val="solid"/>
          </a:ln>
        </p:spPr>
      </p:sp>
      <p:graphicFrame>
        <p:nvGraphicFramePr>
          <p:cNvPr id="4" name="Chart 0" descr=""/>
          <p:cNvGraphicFramePr/>
          <p:nvPr/>
        </p:nvGraphicFramePr>
        <p:xfrm>
          <a:off x="548640" y="1234440"/>
          <a:ext cx="46634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577840" y="1280160"/>
            <a:ext cx="3108960" cy="3017520"/>
          </a:xfrm>
          <a:prstGeom prst="rect">
            <a:avLst/>
          </a:prstGeom>
          <a:noFill/>
          <a:ln/>
        </p:spPr>
        <p:txBody>
          <a:bodyPr wrap="square" lIns="0" tIns="0" rIns="0" bIns="0" rtlCol="0" anchor="t"/>
          <a:lstStyle/>
          <a:p>
            <a:pPr indent="0" marL="0">
              <a:buNone/>
            </a:pPr>
            <a:r>
              <a:rPr lang="en-US" sz="1400" b="1" dirty="0">
                <a:solidFill>
                  <a:srgbClr val="0F4C5C"/>
                </a:solidFill>
                <a:latin typeface="Calibri" pitchFamily="34" charset="0"/>
                <a:ea typeface="Calibri" pitchFamily="34" charset="-122"/>
                <a:cs typeface="Calibri" pitchFamily="34" charset="-120"/>
              </a:rPr>
              <a:t>Big spenders</a:t>
            </a:r>
            <a:endParaRPr lang="en-US" sz="1400" dirty="0"/>
          </a:p>
          <a:p>
            <a:pPr indent="0" marL="0">
              <a:spcAft>
                <a:spcPts val="800"/>
              </a:spcAft>
              <a:buNone/>
            </a:pPr>
            <a:r>
              <a:rPr lang="en-US" sz="1400" dirty="0">
                <a:solidFill>
                  <a:srgbClr val="1B2733"/>
                </a:solidFill>
                <a:latin typeface="Calibri" pitchFamily="34" charset="0"/>
                <a:ea typeface="Calibri" pitchFamily="34" charset="-122"/>
                <a:cs typeface="Calibri" pitchFamily="34" charset="-120"/>
              </a:rPr>
              <a:t>6+ units at 25,000+ per unit. Average order 300 K, 2.2 times the overall average.</a:t>
            </a:r>
            <a:endParaRPr lang="en-US" sz="1400" dirty="0"/>
          </a:p>
          <a:p>
            <a:pPr indent="0" marL="0">
              <a:buNone/>
            </a:pPr>
            <a:r>
              <a:rPr lang="en-US" sz="1400" b="1" dirty="0">
                <a:solidFill>
                  <a:srgbClr val="0F4C5C"/>
                </a:solidFill>
                <a:latin typeface="Calibri" pitchFamily="34" charset="0"/>
                <a:ea typeface="Calibri" pitchFamily="34" charset="-122"/>
                <a:cs typeface="Calibri" pitchFamily="34" charset="-120"/>
              </a:rPr>
              <a:t>Light buyers</a:t>
            </a:r>
            <a:endParaRPr lang="en-US" sz="1400" dirty="0"/>
          </a:p>
          <a:p>
            <a:pPr indent="0" marL="0">
              <a:spcAft>
                <a:spcPts val="800"/>
              </a:spcAft>
              <a:buNone/>
            </a:pPr>
            <a:r>
              <a:rPr lang="en-US" sz="1400" dirty="0">
                <a:solidFill>
                  <a:srgbClr val="1B2733"/>
                </a:solidFill>
                <a:latin typeface="Calibri" pitchFamily="34" charset="0"/>
                <a:ea typeface="Calibri" pitchFamily="34" charset="-122"/>
                <a:cs typeface="Calibri" pitchFamily="34" charset="-120"/>
              </a:rPr>
              <a:t>5 or fewer units at a lower price. Same share of orders, but 7% of revenue.</a:t>
            </a:r>
            <a:endParaRPr lang="en-US" sz="1400" dirty="0"/>
          </a:p>
          <a:p>
            <a:pPr indent="0" marL="0">
              <a:buNone/>
            </a:pPr>
            <a:r>
              <a:rPr lang="en-US" sz="1400" b="1" dirty="0">
                <a:solidFill>
                  <a:srgbClr val="0F4C5C"/>
                </a:solidFill>
                <a:latin typeface="Calibri" pitchFamily="34" charset="0"/>
                <a:ea typeface="Calibri" pitchFamily="34" charset="-122"/>
                <a:cs typeface="Calibri" pitchFamily="34" charset="-120"/>
              </a:rPr>
              <a:t>Same people, different baskets</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Segments look alike by age, gender, city and category (all p &gt; 0.05).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Mobile's order share fell, but the evidence is not conclusive</a:t>
            </a:r>
            <a:endParaRPr lang="en-US" sz="2200" dirty="0"/>
          </a:p>
        </p:txBody>
      </p:sp>
      <p:sp>
        <p:nvSpPr>
          <p:cNvPr id="3" name="Chart panel"/>
          <p:cNvSpPr/>
          <p:nvPr/>
        </p:nvSpPr>
        <p:spPr>
          <a:xfrm>
            <a:off x="457200" y="1188720"/>
            <a:ext cx="4846320" cy="3200400"/>
          </a:xfrm>
          <a:prstGeom prst="rect">
            <a:avLst/>
          </a:prstGeom>
          <a:solidFill>
            <a:srgbClr val="FFFFFF"/>
          </a:solidFill>
          <a:ln w="9525">
            <a:solidFill>
              <a:srgbClr val="D9DFE5"/>
            </a:solidFill>
            <a:prstDash val="solid"/>
          </a:ln>
        </p:spPr>
      </p:sp>
      <p:graphicFrame>
        <p:nvGraphicFramePr>
          <p:cNvPr id="4" name="Chart 0" descr=""/>
          <p:cNvGraphicFramePr/>
          <p:nvPr/>
        </p:nvGraphicFramePr>
        <p:xfrm>
          <a:off x="548640" y="1234440"/>
          <a:ext cx="4663440" cy="3108960"/>
        </p:xfrm>
        <a:graphic xmlns:a="http://schemas.openxmlformats.org/drawingml/2006/main">
          <a:graphicData uri="http://schemas.openxmlformats.org/drawingml/2006/chart">
            <c:chart xmlns:c="http://schemas.openxmlformats.org/drawingml/2006/chart" r:id="rId1"/>
          </a:graphicData>
        </a:graphic>
      </p:graphicFrame>
      <p:sp>
        <p:nvSpPr>
          <p:cNvPr id="5" name="Evidence panel"/>
          <p:cNvSpPr/>
          <p:nvPr/>
        </p:nvSpPr>
        <p:spPr>
          <a:xfrm>
            <a:off x="5577840" y="1188720"/>
            <a:ext cx="3108960" cy="3200400"/>
          </a:xfrm>
          <a:prstGeom prst="rect">
            <a:avLst/>
          </a:prstGeom>
          <a:solidFill>
            <a:srgbClr val="FFFFFF"/>
          </a:solidFill>
          <a:ln w="9525">
            <a:solidFill>
              <a:srgbClr val="D9DFE5"/>
            </a:solidFill>
            <a:prstDash val="solid"/>
          </a:ln>
        </p:spPr>
      </p:sp>
      <p:sp>
        <p:nvSpPr>
          <p:cNvPr id="6" name="Text 3"/>
          <p:cNvSpPr txBox="1"/>
          <p:nvPr/>
        </p:nvSpPr>
        <p:spPr>
          <a:xfrm>
            <a:off x="5715000" y="1298448"/>
            <a:ext cx="2834640" cy="3017520"/>
          </a:xfrm>
          <a:prstGeom prst="rect">
            <a:avLst/>
          </a:prstGeom>
          <a:noFill/>
          <a:ln/>
        </p:spPr>
        <p:txBody>
          <a:bodyPr wrap="square" lIns="0" tIns="0" rIns="0" bIns="0" rtlCol="0" anchor="t"/>
          <a:lstStyle/>
          <a:p>
            <a:pPr indent="0" marL="0">
              <a:buNone/>
            </a:pPr>
            <a:r>
              <a:rPr lang="en-US" sz="1500" b="1" dirty="0">
                <a:solidFill>
                  <a:srgbClr val="0F4C5C"/>
                </a:solidFill>
                <a:latin typeface="Calibri" pitchFamily="34" charset="0"/>
                <a:ea typeface="Calibri" pitchFamily="34" charset="-122"/>
                <a:cs typeface="Calibri" pitchFamily="34" charset="-120"/>
              </a:rPr>
              <a:t>Mobile: 21.2% to 15.6% of orders</a:t>
            </a:r>
            <a:endParaRPr lang="en-US" sz="1500" dirty="0"/>
          </a:p>
          <a:p>
            <a:pPr indent="0" marL="0">
              <a:spcAft>
                <a:spcPts val="600"/>
              </a:spcAft>
              <a:buNone/>
            </a:pPr>
            <a:r>
              <a:rPr lang="en-US" sz="1500" dirty="0">
                <a:solidFill>
                  <a:srgbClr val="1B2733"/>
                </a:solidFill>
                <a:latin typeface="Calibri" pitchFamily="34" charset="0"/>
                <a:ea typeface="Calibri" pitchFamily="34" charset="-122"/>
                <a:cs typeface="Calibri" pitchFamily="34" charset="-120"/>
              </a:rPr>
              <a:t>106 to 78 orders; revenue down 35%.</a:t>
            </a:r>
            <a:endParaRPr lang="en-US" sz="1500" dirty="0"/>
          </a:p>
          <a:p>
            <a:pPr indent="0" marL="0">
              <a:buNone/>
            </a:pPr>
            <a:r>
              <a:rPr lang="en-US" sz="1500" b="1" dirty="0">
                <a:solidFill>
                  <a:srgbClr val="1B2733"/>
                </a:solidFill>
                <a:latin typeface="Calibri" pitchFamily="34" charset="0"/>
                <a:ea typeface="Calibri" pitchFamily="34" charset="-122"/>
                <a:cs typeface="Calibri" pitchFamily="34" charset="-120"/>
              </a:rPr>
              <a:t>p = 0.021 on its own</a:t>
            </a:r>
            <a:endParaRPr lang="en-US" sz="1500" dirty="0"/>
          </a:p>
          <a:p>
            <a:pPr indent="0" marL="0">
              <a:spcAft>
                <a:spcPts val="600"/>
              </a:spcAft>
              <a:buNone/>
            </a:pPr>
            <a:r>
              <a:rPr lang="en-US" sz="1500" dirty="0">
                <a:solidFill>
                  <a:srgbClr val="1B2733"/>
                </a:solidFill>
                <a:latin typeface="Calibri" pitchFamily="34" charset="0"/>
                <a:ea typeface="Calibri" pitchFamily="34" charset="-122"/>
                <a:cs typeface="Calibri" pitchFamily="34" charset="-120"/>
              </a:rPr>
              <a:t>but 0.124 after adjusting for six tests.</a:t>
            </a:r>
            <a:endParaRPr lang="en-US" sz="1500" dirty="0"/>
          </a:p>
          <a:p>
            <a:pPr indent="0" marL="0">
              <a:buNone/>
            </a:pPr>
            <a:r>
              <a:rPr lang="en-US" sz="1500" b="1" dirty="0">
                <a:solidFill>
                  <a:srgbClr val="1B2733"/>
                </a:solidFill>
                <a:latin typeface="Calibri" pitchFamily="34" charset="0"/>
                <a:ea typeface="Calibri" pitchFamily="34" charset="-122"/>
                <a:cs typeface="Calibri" pitchFamily="34" charset="-120"/>
              </a:rPr>
              <a:t>Overall product mix: p = 0.27</a:t>
            </a:r>
            <a:endParaRPr lang="en-US" sz="1500" dirty="0"/>
          </a:p>
          <a:p>
            <a:pPr indent="0" marL="0">
              <a:spcAft>
                <a:spcPts val="600"/>
              </a:spcAft>
              <a:buNone/>
            </a:pPr>
            <a:r>
              <a:rPr lang="en-US" sz="1500" dirty="0">
                <a:solidFill>
                  <a:srgbClr val="1B2733"/>
                </a:solidFill>
                <a:latin typeface="Calibri" pitchFamily="34" charset="0"/>
                <a:ea typeface="Calibri" pitchFamily="34" charset="-122"/>
                <a:cs typeface="Calibri" pitchFamily="34" charset="-120"/>
              </a:rPr>
              <a:t>no significant change.</a:t>
            </a:r>
            <a:endParaRPr lang="en-US" sz="1500" dirty="0"/>
          </a:p>
          <a:p>
            <a:pPr indent="0" marL="0">
              <a:buNone/>
            </a:pPr>
            <a:r>
              <a:rPr lang="en-US" sz="1500" b="1" dirty="0">
                <a:solidFill>
                  <a:srgbClr val="B5382F"/>
                </a:solidFill>
                <a:latin typeface="Calibri" pitchFamily="34" charset="0"/>
                <a:ea typeface="Calibri" pitchFamily="34" charset="-122"/>
                <a:cs typeface="Calibri" pitchFamily="34" charset="-120"/>
              </a:rPr>
              <a:t>Verdict: watch, do not act yet.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Statistical validation: no test passes once we correct for six comparisons</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3200400"/>
                <a:gridCol w="1737360"/>
                <a:gridCol w="1097280"/>
                <a:gridCol w="16459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0F4C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0F4C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0F4C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Adjusted p</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0F4C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0F4C5C"/>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T1</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Product mix changed, H1 vs H2</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chi2 = 6.38</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 change</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T2</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Mobile share of orders fell</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21.2% to 15.6%</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0.124</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733"/>
                          </a:solidFill>
                          <a:latin typeface="Calibri" pitchFamily="34" charset="0"/>
                          <a:ea typeface="Calibri" pitchFamily="34" charset="-122"/>
                          <a:cs typeface="Calibri" pitchFamily="34" charset="-120"/>
                        </a:rPr>
                        <a:t>Suggestive</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T3</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Q3 order value is lower</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-14.7 K per order</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0.39</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significant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T4</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Weekend vs weekday order value</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-8.7 K per order</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significant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T5</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Male vs female order value</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+4.9 K per order</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significant</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T6</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Age vs order value</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r = 0.00</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 relationship</a:t>
                      </a:r>
                      <a:endParaRPr lang="en-US" sz="1100" dirty="0">
                        <a:latin typeface="Calibri" charset="0"/>
                        <a:ea typeface="Calibri" charset="0"/>
                        <a:cs typeface="Calibri" charset="0"/>
                      </a:endParaRPr>
                    </a:p>
                  </a:txBody>
                  <a:tcPr marL="91440" marR="91440" marT="0" marB="0" anchor="ctr">
                    <a:lnL w="9525" cap="flat" cmpd="sng" algn="ctr">
                      <a:solidFill>
                        <a:srgbClr val="D9DFE5"/>
                      </a:solidFill>
                      <a:prstDash val="solid"/>
                      <a:round/>
                      <a:headEnd type="none" w="med" len="med"/>
                      <a:tailEnd type="none" w="med" len="med"/>
                    </a:lnL>
                    <a:lnR w="9525" cap="flat" cmpd="sng" algn="ctr">
                      <a:solidFill>
                        <a:srgbClr val="D9DFE5"/>
                      </a:solidFill>
                      <a:prstDash val="solid"/>
                      <a:round/>
                      <a:headEnd type="none" w="med" len="med"/>
                      <a:tailEnd type="none" w="med" len="med"/>
                    </a:lnR>
                    <a:lnT w="9525" cap="flat" cmpd="sng" algn="ctr">
                      <a:solidFill>
                        <a:srgbClr val="D9DFE5"/>
                      </a:solidFill>
                      <a:prstDash val="solid"/>
                      <a:round/>
                      <a:headEnd type="none" w="med" len="med"/>
                      <a:tailEnd type="none" w="med" len="med"/>
                    </a:lnT>
                    <a:lnB w="9525" cap="flat" cmpd="sng" algn="ctr">
                      <a:solidFill>
                        <a:srgbClr val="D9DF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200" dirty="0">
                <a:solidFill>
                  <a:srgbClr val="5F6F7D"/>
                </a:solidFill>
                <a:latin typeface="Calibri" pitchFamily="34" charset="0"/>
                <a:ea typeface="Calibri" pitchFamily="34" charset="-122"/>
                <a:cs typeface="Calibri" pitchFamily="34" charset="-120"/>
              </a:rPr>
              <a:t>Holm-adjusted p-values, 5% significance level. Welch t-tests were cross-checked with Mann-Whitney tests. With about 1,000 orders, order-value differences of 10-25 K cannot be ruled out; the confidence intervals are wide.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Recommendations: act on basket size, not on demographics</a:t>
            </a:r>
            <a:endParaRPr lang="en-US" sz="2200" dirty="0"/>
          </a:p>
        </p:txBody>
      </p:sp>
      <p:sp>
        <p:nvSpPr>
          <p:cNvPr id="3" name="Recommendation 1"/>
          <p:cNvSpPr/>
          <p:nvPr/>
        </p:nvSpPr>
        <p:spPr>
          <a:xfrm>
            <a:off x="457200" y="1188720"/>
            <a:ext cx="2651760" cy="3017520"/>
          </a:xfrm>
          <a:prstGeom prst="rect">
            <a:avLst/>
          </a:prstGeom>
          <a:solidFill>
            <a:srgbClr val="FFFFFF"/>
          </a:solidFill>
          <a:ln w="9525">
            <a:solidFill>
              <a:srgbClr val="D9DFE5"/>
            </a:solidFill>
            <a:prstDash val="solid"/>
          </a:ln>
        </p:spPr>
      </p:sp>
      <p:sp>
        <p:nvSpPr>
          <p:cNvPr id="4" name="Accent 1"/>
          <p:cNvSpPr/>
          <p:nvPr/>
        </p:nvSpPr>
        <p:spPr>
          <a:xfrm>
            <a:off x="457200" y="1188720"/>
            <a:ext cx="2651760" cy="64008"/>
          </a:xfrm>
          <a:prstGeom prst="rect">
            <a:avLst/>
          </a:prstGeom>
          <a:solidFill>
            <a:srgbClr val="0F4C5C"/>
          </a:solidFill>
          <a:ln w="12700">
            <a:solidFill>
              <a:srgbClr val="0F4C5C"/>
            </a:solidFill>
            <a:prstDash val="solid"/>
          </a:ln>
        </p:spPr>
      </p:sp>
      <p:sp>
        <p:nvSpPr>
          <p:cNvPr id="5" name="Text 3"/>
          <p:cNvSpPr txBox="1"/>
          <p:nvPr/>
        </p:nvSpPr>
        <p:spPr>
          <a:xfrm>
            <a:off x="640080" y="1417320"/>
            <a:ext cx="2286000" cy="548640"/>
          </a:xfrm>
          <a:prstGeom prst="rect">
            <a:avLst/>
          </a:prstGeom>
          <a:noFill/>
          <a:ln/>
        </p:spPr>
        <p:txBody>
          <a:bodyPr wrap="square" lIns="0" tIns="0" rIns="0" bIns="0" rtlCol="0" anchor="t"/>
          <a:lstStyle/>
          <a:p>
            <a:pPr indent="0" marL="0">
              <a:buNone/>
            </a:pPr>
            <a:r>
              <a:rPr lang="en-US" sz="1700" b="1" dirty="0">
                <a:solidFill>
                  <a:srgbClr val="0F4C5C"/>
                </a:solidFill>
                <a:latin typeface="Calibri" pitchFamily="34" charset="0"/>
                <a:ea typeface="Calibri" pitchFamily="34" charset="-122"/>
                <a:cs typeface="Calibri" pitchFamily="34" charset="-120"/>
              </a:rPr>
              <a:t>Protect Big spenders</a:t>
            </a:r>
            <a:endParaRPr lang="en-US" sz="1700" dirty="0"/>
          </a:p>
        </p:txBody>
      </p:sp>
      <p:sp>
        <p:nvSpPr>
          <p:cNvPr id="6" name="Text 4"/>
          <p:cNvSpPr txBox="1"/>
          <p:nvPr/>
        </p:nvSpPr>
        <p:spPr>
          <a:xfrm>
            <a:off x="640080" y="2057400"/>
            <a:ext cx="2286000" cy="2011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They place a quarter of orders and bring in 53% of revenue. Offer multi-unit bundles and loyalty rewards on premium items.</a:t>
            </a:r>
            <a:endParaRPr lang="en-US" sz="1500" dirty="0"/>
          </a:p>
        </p:txBody>
      </p:sp>
      <p:sp>
        <p:nvSpPr>
          <p:cNvPr id="7" name="Recommendation 2"/>
          <p:cNvSpPr/>
          <p:nvPr/>
        </p:nvSpPr>
        <p:spPr>
          <a:xfrm>
            <a:off x="3246120" y="1188720"/>
            <a:ext cx="2651760" cy="3017520"/>
          </a:xfrm>
          <a:prstGeom prst="rect">
            <a:avLst/>
          </a:prstGeom>
          <a:solidFill>
            <a:srgbClr val="FFFFFF"/>
          </a:solidFill>
          <a:ln w="9525">
            <a:solidFill>
              <a:srgbClr val="D9DFE5"/>
            </a:solidFill>
            <a:prstDash val="solid"/>
          </a:ln>
        </p:spPr>
      </p:sp>
      <p:sp>
        <p:nvSpPr>
          <p:cNvPr id="8" name="Accent 2"/>
          <p:cNvSpPr/>
          <p:nvPr/>
        </p:nvSpPr>
        <p:spPr>
          <a:xfrm>
            <a:off x="3246120" y="1188720"/>
            <a:ext cx="2651760" cy="64008"/>
          </a:xfrm>
          <a:prstGeom prst="rect">
            <a:avLst/>
          </a:prstGeom>
          <a:solidFill>
            <a:srgbClr val="0F4C5C"/>
          </a:solidFill>
          <a:ln w="12700">
            <a:solidFill>
              <a:srgbClr val="0F4C5C"/>
            </a:solidFill>
            <a:prstDash val="solid"/>
          </a:ln>
        </p:spPr>
      </p:sp>
      <p:sp>
        <p:nvSpPr>
          <p:cNvPr id="9" name="Text 7"/>
          <p:cNvSpPr txBox="1"/>
          <p:nvPr/>
        </p:nvSpPr>
        <p:spPr>
          <a:xfrm>
            <a:off x="3429000" y="1417320"/>
            <a:ext cx="2286000" cy="548640"/>
          </a:xfrm>
          <a:prstGeom prst="rect">
            <a:avLst/>
          </a:prstGeom>
          <a:noFill/>
          <a:ln/>
        </p:spPr>
        <p:txBody>
          <a:bodyPr wrap="square" lIns="0" tIns="0" rIns="0" bIns="0" rtlCol="0" anchor="t"/>
          <a:lstStyle/>
          <a:p>
            <a:pPr indent="0" marL="0">
              <a:buNone/>
            </a:pPr>
            <a:r>
              <a:rPr lang="en-US" sz="1700" b="1" dirty="0">
                <a:solidFill>
                  <a:srgbClr val="0F4C5C"/>
                </a:solidFill>
                <a:latin typeface="Calibri" pitchFamily="34" charset="0"/>
                <a:ea typeface="Calibri" pitchFamily="34" charset="-122"/>
                <a:cs typeface="Calibri" pitchFamily="34" charset="-120"/>
              </a:rPr>
              <a:t>Move Light buyers up</a:t>
            </a:r>
            <a:endParaRPr lang="en-US" sz="1700" dirty="0"/>
          </a:p>
        </p:txBody>
      </p:sp>
      <p:sp>
        <p:nvSpPr>
          <p:cNvPr id="10" name="Text 8"/>
          <p:cNvSpPr txBox="1"/>
          <p:nvPr/>
        </p:nvSpPr>
        <p:spPr>
          <a:xfrm>
            <a:off x="3429000" y="2057400"/>
            <a:ext cx="2286000" cy="2011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A quarter of orders add only 7% of revenue. Use multi-buy offers (raise quantity) and trade-up suggestions (raise price).</a:t>
            </a:r>
            <a:endParaRPr lang="en-US" sz="1500" dirty="0"/>
          </a:p>
        </p:txBody>
      </p:sp>
      <p:sp>
        <p:nvSpPr>
          <p:cNvPr id="11" name="Recommendation 3"/>
          <p:cNvSpPr/>
          <p:nvPr/>
        </p:nvSpPr>
        <p:spPr>
          <a:xfrm>
            <a:off x="6035040" y="1188720"/>
            <a:ext cx="2651760" cy="3017520"/>
          </a:xfrm>
          <a:prstGeom prst="rect">
            <a:avLst/>
          </a:prstGeom>
          <a:solidFill>
            <a:srgbClr val="FFFFFF"/>
          </a:solidFill>
          <a:ln w="9525">
            <a:solidFill>
              <a:srgbClr val="D9DFE5"/>
            </a:solidFill>
            <a:prstDash val="solid"/>
          </a:ln>
        </p:spPr>
      </p:sp>
      <p:sp>
        <p:nvSpPr>
          <p:cNvPr id="12" name="Accent 3"/>
          <p:cNvSpPr/>
          <p:nvPr/>
        </p:nvSpPr>
        <p:spPr>
          <a:xfrm>
            <a:off x="6035040" y="1188720"/>
            <a:ext cx="2651760" cy="64008"/>
          </a:xfrm>
          <a:prstGeom prst="rect">
            <a:avLst/>
          </a:prstGeom>
          <a:solidFill>
            <a:srgbClr val="E0A030"/>
          </a:solidFill>
          <a:ln w="12700">
            <a:solidFill>
              <a:srgbClr val="E0A030"/>
            </a:solidFill>
            <a:prstDash val="solid"/>
          </a:ln>
        </p:spPr>
      </p:sp>
      <p:sp>
        <p:nvSpPr>
          <p:cNvPr id="13" name="Text 11"/>
          <p:cNvSpPr txBox="1"/>
          <p:nvPr/>
        </p:nvSpPr>
        <p:spPr>
          <a:xfrm>
            <a:off x="6217920" y="1417320"/>
            <a:ext cx="2286000" cy="548640"/>
          </a:xfrm>
          <a:prstGeom prst="rect">
            <a:avLst/>
          </a:prstGeom>
          <a:noFill/>
          <a:ln/>
        </p:spPr>
        <p:txBody>
          <a:bodyPr wrap="square" lIns="0" tIns="0" rIns="0" bIns="0" rtlCol="0" anchor="t"/>
          <a:lstStyle/>
          <a:p>
            <a:pPr indent="0" marL="0">
              <a:buNone/>
            </a:pPr>
            <a:r>
              <a:rPr lang="en-US" sz="1700" b="1" dirty="0">
                <a:solidFill>
                  <a:srgbClr val="0F4C5C"/>
                </a:solidFill>
                <a:latin typeface="Calibri" pitchFamily="34" charset="0"/>
                <a:ea typeface="Calibri" pitchFamily="34" charset="-122"/>
                <a:cs typeface="Calibri" pitchFamily="34" charset="-120"/>
              </a:rPr>
              <a:t>Drop demographic targeting</a:t>
            </a:r>
            <a:endParaRPr lang="en-US" sz="1700" dirty="0"/>
          </a:p>
        </p:txBody>
      </p:sp>
      <p:sp>
        <p:nvSpPr>
          <p:cNvPr id="14" name="Text 12"/>
          <p:cNvSpPr txBox="1"/>
          <p:nvPr/>
        </p:nvSpPr>
        <p:spPr>
          <a:xfrm>
            <a:off x="6217920" y="2057400"/>
            <a:ext cx="2286000" cy="2011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Age, gender, city and weekday do not explain spend. Trigger offers on cart contents. Keep monitoring Mobile.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200" b="1" dirty="0">
                <a:solidFill>
                  <a:srgbClr val="1B2733"/>
                </a:solidFill>
                <a:latin typeface="Calibri" pitchFamily="34" charset="0"/>
                <a:ea typeface="Calibri" pitchFamily="34" charset="-122"/>
                <a:cs typeface="Calibri" pitchFamily="34" charset="-120"/>
              </a:rPr>
              <a:t>Caveats and next steps</a:t>
            </a:r>
            <a:endParaRPr lang="en-US" sz="2200" dirty="0"/>
          </a:p>
        </p:txBody>
      </p:sp>
      <p:sp>
        <p:nvSpPr>
          <p:cNvPr id="3" name="Limits panel"/>
          <p:cNvSpPr/>
          <p:nvPr/>
        </p:nvSpPr>
        <p:spPr>
          <a:xfrm>
            <a:off x="457200" y="1188720"/>
            <a:ext cx="4023360" cy="3200400"/>
          </a:xfrm>
          <a:prstGeom prst="rect">
            <a:avLst/>
          </a:prstGeom>
          <a:solidFill>
            <a:srgbClr val="FFFFFF"/>
          </a:solidFill>
          <a:ln w="9525">
            <a:solidFill>
              <a:srgbClr val="D9DFE5"/>
            </a:solidFill>
            <a:prstDash val="solid"/>
          </a:ln>
        </p:spPr>
      </p:sp>
      <p:sp>
        <p:nvSpPr>
          <p:cNvPr id="4" name="Next steps panel"/>
          <p:cNvSpPr/>
          <p:nvPr/>
        </p:nvSpPr>
        <p:spPr>
          <a:xfrm>
            <a:off x="4663440" y="1188720"/>
            <a:ext cx="4023360" cy="3200400"/>
          </a:xfrm>
          <a:prstGeom prst="rect">
            <a:avLst/>
          </a:prstGeom>
          <a:solidFill>
            <a:srgbClr val="FFFFFF"/>
          </a:solidFill>
          <a:ln w="9525">
            <a:solidFill>
              <a:srgbClr val="D9DFE5"/>
            </a:solidFill>
            <a:prstDash val="solid"/>
          </a:ln>
        </p:spPr>
      </p:sp>
      <p:sp>
        <p:nvSpPr>
          <p:cNvPr id="5" name="Text 3"/>
          <p:cNvSpPr txBox="1"/>
          <p:nvPr/>
        </p:nvSpPr>
        <p:spPr>
          <a:xfrm>
            <a:off x="640080" y="1325880"/>
            <a:ext cx="3657600" cy="320040"/>
          </a:xfrm>
          <a:prstGeom prst="rect">
            <a:avLst/>
          </a:prstGeom>
          <a:noFill/>
          <a:ln/>
        </p:spPr>
        <p:txBody>
          <a:bodyPr wrap="square" lIns="0" tIns="0" rIns="0" bIns="0" rtlCol="0" anchor="ctr"/>
          <a:lstStyle/>
          <a:p>
            <a:pPr indent="0" marL="0">
              <a:buNone/>
            </a:pPr>
            <a:r>
              <a:rPr lang="en-US" sz="1600" b="1" dirty="0">
                <a:solidFill>
                  <a:srgbClr val="0F4C5C"/>
                </a:solidFill>
                <a:latin typeface="Calibri" pitchFamily="34" charset="0"/>
                <a:ea typeface="Calibri" pitchFamily="34" charset="-122"/>
                <a:cs typeface="Calibri" pitchFamily="34" charset="-120"/>
              </a:rPr>
              <a:t>What limits this analysis</a:t>
            </a:r>
            <a:endParaRPr lang="en-US" sz="1600" dirty="0"/>
          </a:p>
        </p:txBody>
      </p:sp>
      <p:sp>
        <p:nvSpPr>
          <p:cNvPr id="6" name="Text 4"/>
          <p:cNvSpPr txBox="1"/>
          <p:nvPr/>
        </p:nvSpPr>
        <p:spPr>
          <a:xfrm>
            <a:off x="640080" y="173736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The data looks synthetic: quantity and price are evenly spread and prices overlap across products.</a:t>
            </a:r>
            <a:endParaRPr lang="en-US" sz="1500" dirty="0"/>
          </a:p>
          <a:p>
            <a:pPr marL="342900" indent="-3429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Customer IDs are reused across names, so we analyse orders, not customers.</a:t>
            </a:r>
            <a:endParaRPr lang="en-US" sz="1500" dirty="0"/>
          </a:p>
          <a:p>
            <a:pPr marL="342900" indent="-342900">
              <a:buSzPct val="100000"/>
              <a:buChar char="•"/>
            </a:pPr>
            <a:r>
              <a:rPr lang="en-US" sz="1500" dirty="0">
                <a:solidFill>
                  <a:srgbClr val="1B2733"/>
                </a:solidFill>
                <a:latin typeface="Calibri" pitchFamily="34" charset="0"/>
                <a:ea typeface="Calibri" pitchFamily="34" charset="-122"/>
                <a:cs typeface="Calibri" pitchFamily="34" charset="-120"/>
              </a:rPr>
              <a:t>Mobile and Q3 were chosen after exploring the data, so those tests are exploratory.</a:t>
            </a:r>
            <a:endParaRPr lang="en-US" sz="1500" dirty="0"/>
          </a:p>
        </p:txBody>
      </p:sp>
      <p:sp>
        <p:nvSpPr>
          <p:cNvPr id="7" name="Text 5"/>
          <p:cNvSpPr txBox="1"/>
          <p:nvPr/>
        </p:nvSpPr>
        <p:spPr>
          <a:xfrm>
            <a:off x="4846320" y="1325880"/>
            <a:ext cx="3657600" cy="320040"/>
          </a:xfrm>
          <a:prstGeom prst="rect">
            <a:avLst/>
          </a:prstGeom>
          <a:noFill/>
          <a:ln/>
        </p:spPr>
        <p:txBody>
          <a:bodyPr wrap="square" lIns="0" tIns="0" rIns="0" bIns="0" rtlCol="0" anchor="ctr"/>
          <a:lstStyle/>
          <a:p>
            <a:pPr indent="0" marL="0">
              <a:buNone/>
            </a:pPr>
            <a:r>
              <a:rPr lang="en-US" sz="1600" b="1" dirty="0">
                <a:solidFill>
                  <a:srgbClr val="0F4C5C"/>
                </a:solidFill>
                <a:latin typeface="Calibri" pitchFamily="34" charset="0"/>
                <a:ea typeface="Calibri" pitchFamily="34" charset="-122"/>
                <a:cs typeface="Calibri" pitchFamily="34" charset="-120"/>
              </a:rPr>
              <a:t>Next steps</a:t>
            </a:r>
            <a:endParaRPr lang="en-US" sz="1600" dirty="0"/>
          </a:p>
        </p:txBody>
      </p:sp>
      <p:sp>
        <p:nvSpPr>
          <p:cNvPr id="8" name="Text 6"/>
          <p:cNvSpPr txBox="1"/>
          <p:nvPr/>
        </p:nvSpPr>
        <p:spPr>
          <a:xfrm>
            <a:off x="4846320" y="173736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Re-run the Mobile and Q3 tests on the next two quarters, with the decision rule agreed in advance.</a:t>
            </a:r>
            <a:endParaRPr lang="en-US" sz="1500" dirty="0"/>
          </a:p>
          <a:p>
            <a:pPr marL="342900" indent="-3429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Fix order and customer IDs so retention and lifetime value can be measured.</a:t>
            </a:r>
            <a:endParaRPr lang="en-US" sz="1500" dirty="0"/>
          </a:p>
          <a:p>
            <a:pPr marL="342900" indent="-342900">
              <a:buSzPct val="100000"/>
              <a:buChar char="•"/>
            </a:pPr>
            <a:r>
              <a:rPr lang="en-US" sz="1500" dirty="0">
                <a:solidFill>
                  <a:srgbClr val="1B2733"/>
                </a:solidFill>
                <a:latin typeface="Calibri" pitchFamily="34" charset="0"/>
                <a:ea typeface="Calibri" pitchFamily="34" charset="-122"/>
                <a:cs typeface="Calibri" pitchFamily="34" charset="-120"/>
              </a:rPr>
              <a:t>Capture visits and carts to add conversion rate as a KPI.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D"/>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ales Story">
  <a:themeElements>
    <a:clrScheme name="Sales Story">
      <a:dk1>
        <a:srgbClr val="1B2733"/>
      </a:dk1>
      <a:lt1>
        <a:srgbClr val="FFFFFF"/>
      </a:lt1>
      <a:dk2>
        <a:srgbClr val="0F4C5C"/>
      </a:dk2>
      <a:lt2>
        <a:srgbClr val="F2F4F6"/>
      </a:lt2>
      <a:accent1>
        <a:srgbClr val="0F4C5C"/>
      </a:accent1>
      <a:accent2>
        <a:srgbClr val="E0A030"/>
      </a:accent2>
      <a:accent3>
        <a:srgbClr val="B5382F"/>
      </a:accent3>
      <a:accent4>
        <a:srgbClr val="2A9D8F"/>
      </a:accent4>
      <a:accent5>
        <a:srgbClr val="5F6F7D"/>
      </a:accent5>
      <a:accent6>
        <a:srgbClr val="9DB8D3"/>
      </a:accent6>
      <a:hlink>
        <a:srgbClr val="0F4C5C"/>
      </a:hlink>
      <a:folHlink>
        <a:srgbClr val="5F6F7D"/>
      </a:folHlink>
    </a:clrScheme>
    <a:fontScheme name="Sales Stor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really drives our revenue</dc:title>
  <dc:subject>PptxGenJS Presentation</dc:subject>
  <dc:creator>Mahesh R</dc:creator>
  <cp:lastModifiedBy>Mahesh R</cp:lastModifiedBy>
  <cp:revision>1</cp:revision>
  <dcterms:created xsi:type="dcterms:W3CDTF">2026-10-30T03:41:35Z</dcterms:created>
  <dcterms:modified xsi:type="dcterms:W3CDTF">2026-10-30T03:41:35Z</dcterms:modified>
</cp:coreProperties>
</file>